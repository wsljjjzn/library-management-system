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 type="screen16x9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roundRect 3"/>
          <p:cNvSpPr/>
          <p:nvPr/>
        </p:nvSpPr>
        <p:spPr>
          <a:xfrm>
            <a:off x="1080000" y="900000"/>
            <a:ext cx="10031760" cy="5040000"/>
          </a:xfrm>
          <a:prstGeom prst="roundRect">
            <a:avLst/>
          </a:prstGeom>
          <a:solidFill>
            <a:srgbClr val="131D33"/>
          </a:solidFill>
        </p:spPr>
      </p:sp>
      <p:sp>
        <p:nvSpPr>
          <p:cNvPr id="4" name="rect 4"/>
          <p:cNvSpPr/>
          <p:nvPr/>
        </p:nvSpPr>
        <p:spPr>
          <a:xfrm>
            <a:off x="1080000" y="900000"/>
            <a:ext cx="10031760" cy="43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6" name="TextBox 6"/>
          <p:cNvSpPr txBox="1"/>
          <p:nvPr/>
        </p:nvSpPr>
        <p:spPr>
          <a:xfrm>
            <a:off x="1440000" y="1728000"/>
            <a:ext cx="9000000" cy="64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LibraryHub 智能图书借阅管理系统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440000" y="2412000"/>
            <a:ext cx="9000000" cy="43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面向中小型资料室与校园分馆的轻量、高可用、低资源消耗前后端分离智能借阅解决方案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8" name="roundRect 8"/>
          <p:cNvSpPr/>
          <p:nvPr/>
        </p:nvSpPr>
        <p:spPr>
          <a:xfrm>
            <a:off x="1440000" y="3060000"/>
            <a:ext cx="9311760" cy="234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9" name="TextBox 9"/>
          <p:cNvSpPr txBox="1"/>
          <p:nvPr/>
        </p:nvSpPr>
        <p:spPr>
          <a:xfrm>
            <a:off x="1656000" y="3240000"/>
            <a:ext cx="8856000" cy="198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CBD5E1"/>
                </a:solidFill>
              </a:rPr>
              <a:t>答 辩 人：</a:t>
            </a:r>
            <a:r>
              <a:rPr lang="zh-CN" altLang="en-US">
                <a:solidFill>
                  <a:srgbClr val="CBD5E1"/>
                </a:solidFill>
              </a:rPr>
              <a:t>句昭南</a:t>
            </a:r>
            <a:r>
              <a:rPr lang="en-US" altLang="zh-CN">
                <a:solidFill>
                  <a:srgbClr val="CBD5E1"/>
                </a:solidFill>
              </a:rPr>
              <a:t>	</a:t>
            </a:r>
            <a:r>
              <a:rPr lang="en-US">
                <a:solidFill>
                  <a:srgbClr val="CBD5E1"/>
                </a:solidFill>
              </a:rPr>
              <a:t>学  号：2023011210    </a:t>
            </a:r>
            <a:endParaRPr>
              <a:solidFill>
                <a:srgbClr val="CBD5E1"/>
              </a:solidFill>
            </a:endParaRPr>
          </a:p>
          <a:p>
            <a:endParaRPr>
              <a:solidFill>
                <a:srgbClr val="CBD5E1"/>
              </a:solidFill>
            </a:endParaRPr>
          </a:p>
          <a:p>
            <a:r>
              <a:rPr lang="en-US">
                <a:solidFill>
                  <a:srgbClr val="CBD5E1"/>
                </a:solidFill>
              </a:rPr>
              <a:t>技术选型：FastAPI (异步高性能) + Vue 3 (组合式API) + SQLite WAL + Docker </a:t>
            </a:r>
            <a:endParaRPr>
              <a:solidFill>
                <a:srgbClr val="CBD5E1"/>
              </a:solidFill>
            </a:endParaRPr>
          </a:p>
          <a:p>
            <a:r>
              <a:rPr lang="en-US">
                <a:solidFill>
                  <a:srgbClr val="CBD5E1"/>
                </a:solidFill>
              </a:rPr>
              <a:t>生产状态：已在阿里云 ECS (2核1G) 正式投产运行</a:t>
            </a:r>
            <a:endParaRPr lang="en-US">
              <a:solidFill>
                <a:srgbClr val="CBD5E1"/>
              </a:solidFill>
            </a:endParaRPr>
          </a:p>
          <a:p>
            <a:r>
              <a:rPr lang="en-US">
                <a:solidFill>
                  <a:srgbClr val="CBD5E1"/>
                </a:solidFill>
              </a:rPr>
              <a:t>公网在线访问入口：http://39.96.0.20/</a:t>
            </a:r>
            <a:endParaRPr>
              <a:solidFill>
                <a:srgbClr val="CBD5E1"/>
              </a:solidFill>
            </a:endParaRPr>
          </a:p>
          <a:p>
            <a:r>
              <a:rPr lang="en-US">
                <a:solidFill>
                  <a:srgbClr val="CBD5E1"/>
                </a:solidFill>
              </a:rPr>
              <a:t>核心亮点：轻量原生响应式 SVG 矢量图表引擎</a:t>
            </a:r>
            <a:endParaRPr>
              <a:solidFill>
                <a:srgbClr val="CBD5E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项目背景与开发思路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项目立项背景与中小型图书室传统痛点剖析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2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假库存严重 ]  痛点 1: 人工与 Excel 记账脱节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66990" y="2132790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E2E8F0"/>
                </a:solidFill>
              </a:rPr>
              <a:t>【现象与危害】：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很多中小学校园分馆、院系资料室仍依赖纸质借书本或人工表格录入。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【具体弊端】：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登记繁琐，书名、ISBN、卡号极易发生笔误录错；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借出与还入缺乏实时动态库存核验，经常出现“读者跑去书架发现早已借空”或“系统记录有书但书架无书”的脱节现象；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馆藏盘点核对周期极长，资产流转效率极其低下。</a:t>
            </a:r>
            <a:endParaRPr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432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450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催缴成本高 ]  痛点 2: 缺乏主动逾期风控机制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499365" y="2087705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E2E8F0"/>
                </a:solidFill>
              </a:rPr>
              <a:t>【现象与危害】：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缺乏到期智能预警与主动权限限制，借还规则形同虚设。</a:t>
            </a:r>
            <a:endParaRPr>
              <a:solidFill>
                <a:srgbClr val="E2E8F0"/>
              </a:solidFill>
            </a:endParaRPr>
          </a:p>
          <a:p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【具体弊端】：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管理员需每日手工翻查借据核对应还日期，催还滞后；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市面很多模板大作业“仅在界面打个已逾期标签”，读者依然能随意借新书，无法实质性制约违约行为；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长期超期未还与图书遗失屡禁不止，严重损害公共借阅权益。</a:t>
            </a:r>
            <a:endParaRPr>
              <a:solidFill>
                <a:srgbClr val="E2E8F0"/>
              </a:solidFill>
            </a:endParaRPr>
          </a:p>
        </p:txBody>
      </p:sp>
      <p:sp>
        <p:nvSpPr>
          <p:cNvPr id="16" name="roundRect 16"/>
          <p:cNvSpPr/>
          <p:nvPr/>
        </p:nvSpPr>
        <p:spPr>
          <a:xfrm>
            <a:off x="810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7" name="TextBox 17"/>
          <p:cNvSpPr txBox="1"/>
          <p:nvPr/>
        </p:nvSpPr>
        <p:spPr>
          <a:xfrm>
            <a:off x="828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服务器成本高昂 ]  痛点 3: 商业软件庞大臃肿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8280000" y="2159460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E2E8F0"/>
                </a:solidFill>
              </a:rPr>
              <a:t>【现象与危害】：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传统商业图书管理软件（ILMS）架构复杂，部署门槛极高。</a:t>
            </a:r>
            <a:endParaRPr>
              <a:solidFill>
                <a:srgbClr val="E2E8F0"/>
              </a:solidFill>
            </a:endParaRPr>
          </a:p>
          <a:p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【具体弊端】：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动辄强依赖数 GB 内存的复杂数据库集群与中间件；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基层单位通常仅有 1G 内存的轻量云服务器或边缘主机，商业软件根本无法启动运行；</a:t>
            </a:r>
            <a:endParaRPr>
              <a:solidFill>
                <a:srgbClr val="E2E8F0"/>
              </a:solidFill>
            </a:endParaRPr>
          </a:p>
          <a:p>
            <a:r>
              <a:rPr lang="en-US">
                <a:solidFill>
                  <a:srgbClr val="E2E8F0"/>
                </a:solidFill>
              </a:rPr>
              <a:t>• 采购授权与每年云资源开销高达数万元，中小微图书馆无力承担。</a:t>
            </a:r>
            <a:endParaRPr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项目背景与开发思路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系统总体开发思路与生产架构技术选型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坚持前后端完全解耦、零冗余中间件、行级原子排他锁与自研轻量图表的极致高可用架构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522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68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设计思路 ]  整体开发设计四大核心准则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68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1. 极简轻量，算力友好：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坚持“零无用中间件”原则，剔除高内存消耗组件，全栈容器常驻内存压缩至 ~180MB，专为 2核1G 极限配置云服务器量身定制。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2. 严密并发控制，数据强一致：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核心借还逻辑实行“数据库事务 + 行级条件排他锁”，杜绝负库存与超卖，保障每一本图书在架量物理与逻辑完全对应。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3. 主动风控阻断，业务全闭环：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构建三道准入防火墙，名下有未结逾期图书立即自动熔断借阅权限；未逾期图书支持在线一键顺延 30 天续借。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4. 云原生容器化，一键极速投产：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采用 Docker Compose 编排，支持宿主机数据卷持久化挂载，实现跨平台“零环境污染、单命令一键部署”。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6048000" y="1368000"/>
            <a:ext cx="560376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6300000" y="1548000"/>
            <a:ext cx="504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选型论证 ]  全栈生产级技术选型矩阵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00000" y="1908000"/>
            <a:ext cx="504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【前端框架】：Vue 3.4 (Composition API) + Vite 5.4 + Element Plus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-&gt; 响应式数据绑定，单组件内聚，打包仅 2.4 秒。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【后端框架】：Python 3.11 + FastAPI (ASGI 异步高性能)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-&gt; 异步非阻塞事件驱动，高并发读写下吞吐效率逼近 Go。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【数据校验】：Pydantic v2 (Rust 核心安全驱动)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-&gt; 严格强类型入参校验，在输入层杜绝脏数据与 SQL 注入。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【数据存储】：SQLite 3.45 (PRAGMA journal_mode = WAL 模式)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-&gt; 并发预写日志，读写互不阻塞，单文件快照，零额外常驻内存。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【安全鉴权】：Passlib (bcrypt 工业级加盐哈希) + PyJWT (HS256)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-&gt; 拒绝明文存储，全站无状态 Bearer Token 鉴权，支持细粒度 RBAC。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【网关运维】：Nginx Alpine + Docker Compose v2 (数据卷挂载持久化)</a:t>
            </a:r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成果展示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成果展示 1: 统一身份认证中心与读者自主开卡注册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标准防伪卡号自动编码（CARD-2026-XXXX）、bcrypt 密码加密与一键体验测试账号矩阵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48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3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实测亮点 ]  功能特性与业务实现细节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3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• 读者自主注册开卡：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读者填写账号、姓名与邮箱后，系统自动生成全局唯一借书卡号（如 CARD-20261021-0001），赋予 reader 角色；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工业级安全凭据防护：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密码经过 passlib bcrypt 算法加盐单向哈希加密存储，杜绝彩虹表撞库泄密；登录下发 HS256 JWT Token；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评委一键体验账号矩阵：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系统专门内置快捷填入按钮，评委点击即可秒级填充管理员、馆员或读者凭据，极大简化现场演示；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细粒度 RBAC 权限隔离：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读者/馆员/管理员根据角色动态加载前端路由并拦截越权请求。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5688000" y="1368000"/>
            <a:ext cx="5963760" cy="4860000"/>
          </a:xfrm>
          <a:prstGeom prst="roundRect">
            <a:avLst/>
          </a:prstGeom>
          <a:solidFill>
            <a:srgbClr val="131D33"/>
          </a:solidFill>
        </p:spPr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0065" y="2132740"/>
            <a:ext cx="5603760" cy="350208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5940000" y="1548000"/>
            <a:ext cx="54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[ 1440x900 实机抓取 ]  真实公网截图：登录与自主注册工作台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940000" y="5635195"/>
            <a:ext cx="540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200">
                <a:solidFill>
                  <a:srgbClr val="94A3B8"/>
                </a:solidFill>
              </a:rPr>
              <a:t>图示：公网 http://39.96.0.20/ 生产实机抓取，内置快捷填入与注册双选项卡</a:t>
            </a:r>
            <a:endParaRPr lang="en-US" sz="12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成果展示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成果展示 2: 运营决策大屏与自研轻量 SVG 走势图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自主研发纯原生响应式 SVG 矢量图表引擎，秒级聚合全馆图书总量、在借流通量与 7 天走势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48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3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核心看点 ]  大屏监控指标与技术攻坚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3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• 四大实时运营指标卡片：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全馆藏书种数 (Titles)、总册数 (Volumes)、当前流通在借本数 (Borrowed) 与超期违约警示 (Overdue)；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自研纯原生响应式 SVG 折线走势图：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彻底抛弃 10MB+ 的外部重型图表库，采用 Vue 3 动态数据绑定手写 SVG 面积折线图，支持平滑贝塞尔曲线、坐标轴与数据点悬停卡片，加载丝滑零延迟；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馆藏分类占比环形图：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多色块展示计算机、文学、自然科学等各类图书馆藏分布；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借阅热门图书排行榜 Top 10：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根据全量借还历史记录实时计算高频流通书目。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5688000" y="1368000"/>
            <a:ext cx="5963760" cy="4860000"/>
          </a:xfrm>
          <a:prstGeom prst="roundRect">
            <a:avLst/>
          </a:prstGeom>
          <a:solidFill>
            <a:srgbClr val="131D33"/>
          </a:solidFill>
        </p:spPr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8000" y="2158775"/>
            <a:ext cx="5603760" cy="350208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5940000" y="1548000"/>
            <a:ext cx="54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自研SVG引擎 ]  真实公网截图：工作台概览与分析看板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940000" y="5687265"/>
            <a:ext cx="540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200">
                <a:solidFill>
                  <a:srgbClr val="94A3B8"/>
                </a:solidFill>
              </a:rPr>
              <a:t>图示：包含 4 项数据卡片、7天借还走势图、分类环形图与借阅热榜</a:t>
            </a:r>
            <a:endParaRPr lang="en-US" sz="12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成果展示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成果展示 3: 馆藏书目多维智能检索与标准采编大厅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支持关键词模糊多条件组合筛选、“仅看有库存”一键过滤、实体架位标引与防呆下架保护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48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3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业务亮点 ]  多维检索与编目防呆特性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3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• 智能多条件组合检索：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支持按书名、作者、ISBN、出版社及图书分类多字段模糊组合检索；检索接口响应时间 &lt; 30ms；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实体在架余量清晰呈现：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列表清晰标明“在架余量 / 馆藏总册数”（如 3/5 本），支持勾选“仅显示在架有书”快速过滤被借空图书；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物理架位号精准标引：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记录精确存放位置（如 2F-A-01），方便读者线下精准寻书；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在借图书防呆下架拦截（资产保护）：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当图书处于借出未还状态时（available &lt; total），系统后端严格阻断下架注销操作，防止资产坏账。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5688000" y="1368000"/>
            <a:ext cx="5963760" cy="4860000"/>
          </a:xfrm>
          <a:prstGeom prst="roundRect">
            <a:avLst/>
          </a:prstGeom>
          <a:solidFill>
            <a:srgbClr val="131D33"/>
          </a:solidFill>
        </p:spPr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8000" y="2158775"/>
            <a:ext cx="5603760" cy="350208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5940000" y="1548000"/>
            <a:ext cx="54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多维过滤 ]  真实公网截图：馆藏书目检索与管理大厅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940000" y="5759020"/>
            <a:ext cx="540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200">
                <a:solidFill>
                  <a:srgbClr val="94A3B8"/>
                </a:solidFill>
              </a:rPr>
              <a:t>图示：支持快速借阅、新书采编入库、架位号显示与在借防呆下架保护</a:t>
            </a:r>
            <a:endParaRPr lang="en-US" sz="12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成果展示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成果展示 4: 全馆借还流转审计与读者在借档案闭环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读者端支持在借跟踪、顺延 30 天续借与自主还书；管理端支持全馆流转监控与柜台代还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48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3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流转控制 ]  流转闭环与顺延续借控制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3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• 读者“我的借阅”档案：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分类显示“借阅中”、“已归还”、“已逾期”单据，清晰标注借出日期、应还截止日期与剩余借阅天数；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在线自主顺延 30 天续借：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在借单据未逾期前提下，支持读者在线一键申请续借；系统自动在原应还时间基础上顺延 30 天，严格限制续借 1 次；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自主还书与柜台代还双闭环：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支持读者线上自主还书或前往柜台由管理员扫码代还验收，单据即刻结清，图书在架可借库存实时原子回补；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超期未还状态智能判定与违约预警。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5688000" y="1368000"/>
            <a:ext cx="5963760" cy="4860000"/>
          </a:xfrm>
          <a:prstGeom prst="roundRect">
            <a:avLst/>
          </a:prstGeom>
          <a:solidFill>
            <a:srgbClr val="131D33"/>
          </a:solidFill>
        </p:spPr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9755" y="2158775"/>
            <a:ext cx="5603760" cy="350208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5940000" y="1548000"/>
            <a:ext cx="54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流转审计 ]  真实公网截图：全馆借还流转监控大厅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940000" y="5687265"/>
            <a:ext cx="540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200">
                <a:solidFill>
                  <a:srgbClr val="94A3B8"/>
                </a:solidFill>
              </a:rPr>
              <a:t>图示：全馆借还记录审计流、在借状态标签、柜台代还与逾期状态标记</a:t>
            </a:r>
            <a:endParaRPr lang="en-US" sz="12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成果展示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成果展示 5: 读者借书证与用户全生命周期权限管理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支持读者借阅上限动态调额、角色权限实时升降级以及违约违规账号一键冻结与解冻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48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3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管理矩阵 ]  用户中心与权限控制特性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3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• 读者借书证全档案浏览：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分页呈现借书卡号（CARD-2026-XXXX）、真实姓名、用户名、角色身份、邮箱及当前在借/限额状态；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角色动态授权 (RBAC)：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支持总管理员将优秀馆员提升为 librarian 或 admin，权限变更秒级生效；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账户一键冻结与风控阻断：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针对恶意损坏图书或长期不还的读者，管理员可点击操作列的【停用】开关；账号一旦停用，Token 立即失效并拦截登录；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差异化借阅限额调整：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支持按读者科研/学习需求，将默认 5 本借阅额度弹性调整至 10/20 本。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5688000" y="1368000"/>
            <a:ext cx="5963760" cy="4860000"/>
          </a:xfrm>
          <a:prstGeom prst="roundRect">
            <a:avLst/>
          </a:prstGeom>
          <a:solidFill>
            <a:srgbClr val="131D33"/>
          </a:solidFill>
        </p:spPr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8000" y="2158775"/>
            <a:ext cx="5603760" cy="350208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5940000" y="1548000"/>
            <a:ext cx="54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账号治理 ]  真实公网截图：读者借书证与用户管理中心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940000" y="5687265"/>
            <a:ext cx="5400000" cy="5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200">
                <a:solidFill>
                  <a:srgbClr val="94A3B8"/>
                </a:solidFill>
              </a:rPr>
              <a:t>图示：读者证号、在借额度对比、角色身份授权与账号启用/停用控制</a:t>
            </a:r>
            <a:endParaRPr lang="en-US" sz="12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项目创新与优化模块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【核心创新 1】智能逾期风控熔断与并发行级排他原子锁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区别于简单大作业模板的静态展示，自主研发具备主动准入防御与强一致性并发锁机制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522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68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创新机制 1: 逾期阶梯风控与主动借阅权限熔断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2195020"/>
            <a:ext cx="468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【传统模板弊端】：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普通课设仅在数据库中打上已超期标记，读者依然可以无限借新书，风控形同虚设。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【LibraryHub 创新实现】：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在后端借阅事务前设置三道准入防火墙：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1. 借阅额度核验：校验未还图书是否达到 5 本上限；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2. 在架余量核验：校验目标图书在架数是否大于 0；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3. 主动逾期熔断：读者名下只要存在一笔处于 OVERDUE（已逾期未归还）的单据，系统在接口层强制熔断借阅权限，阻断所有新借请求！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【业务价值】：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以技术手段主动倒逼读者履约还书，彻底消除图书长期失联被恶意霸占的顽疾。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6048000" y="1368000"/>
            <a:ext cx="560376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6300000" y="1548000"/>
            <a:ext cx="504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创新机制 2: 行级条件排他锁与高并发防超卖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00000" y="2195020"/>
            <a:ext cx="504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【高并发隐患】：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多名读者在同一毫秒内并发抢借同一本仅剩 1 册的热门图书，代码若先查再改，极易造成库存被扣为负数（超卖）。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【LibraryHub 创新实现】：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采用“数据库显式事务 + 行级原子条件更新”：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UPDATE books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SET available_copies = available_copies - 1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WHERE id = :book_id AND available_copies &gt; 0;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【锁竞争原子判定】：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借助底层数据库行级排他锁，只有第一条事务能成功扣减；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其余并发事务执行时发现影响行数为 0，立即触发回滚并向客户端抛出 400 库存不足业务异常；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杜绝并发超卖，确保库存真实可靠。</a:t>
            </a:r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项目创新与优化模块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【核心创新 2】自研纯原生 SVG 矢量图表引擎破解构建死锁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深入排查 Alpine Linux musl 互斥锁死锁根因，彻底剥离重型 ECharts 依赖，构建缩至 2.4 秒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522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68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生产环境遭遇的严重工程难题与根因排查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68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【生产环境规格】：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阿里云 2 核 CPU、1GB 内存、30GB 存储之极限低配 ECS。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【致命故障现象】：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执行 Docker 前端构建时，编译在 transforming 1684 modules 阶段无限期卡死，CPU 占用归零，系统 OOM，SSH 掉线。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【深入底层排查的两大根因】：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1. 内存挤爆：第三方大图表库 (ECharts 5) 庞大的 Canvas/WebGL 依赖，在 Rollup 编译时瞬时内存峰值突破 1.2GB，远超 1G 物理限制；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2. 底层死锁：node:20-alpine 的底层 musl libc 在多线程极度受限的内存竞争下存在互斥锁（mutex）死锁 Bug，导致进程永久挂死。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6048000" y="1368000"/>
            <a:ext cx="560376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6300000" y="1548000"/>
            <a:ext cx="504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纯原生 SVG 方案与性能飞跃对比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00000" y="1908000"/>
            <a:ext cx="504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【突破性重构对策】：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拒绝简单加钱升配置，而是自主研发轻量化纯原生响应式 SVG 数据图表引擎替代外部重型库！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【技术落地】：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利用 Vue 3 响应式计算属性动态生成 SVG path 贝塞尔曲线、悬停交互卡片与环形扇区；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零第三方依赖，彻底消除 1.2GB 内存开销！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【优化前后硬核性能数据对比】：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前端构建耗时：从【超时死锁挂死】直降为【2.4 秒】！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前端镜像体积：从【1.2GB】缩减为【23MB】！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生产常驻内存：Nginx 8MB + 后端 172MB = 总计仅 ~180MB！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结合现代 AI 辅助研发工作流进行测试用例全量编写。</a:t>
            </a:r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项目创新与优化模块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【核心创新 3】极低边际运营成本、公网投产与商用迭代蓝图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已在阿里云生产服务器稳定运行；年运维成本仅百元级，具备 RFID 硬件与微服务演进蓝图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2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公网在线 ]  1. 真实公网投产实证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20000" y="2123265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【真实可用，拒绝假Demo】：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系统已成功投产于阿里云公网 ECS（http://39.96.0.20/），标准 80 端口对外开放，全天候稳定运行；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【全端自适应响应】：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经受住了 Chrome、Edge、Safari 以及手机微信内置浏览器端到端跨网访问测试，数据实时同步；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【自动化健康巡检】：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配置了 Docker 重启策略与持久卷挂载，容器崩溃秒级拉起，数据零丢失。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432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450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年成本仅百元 ]  2. 极致的商业落地成本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00000" y="2123265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【基层单位的真正痛点】：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全国数万所中小学校园分馆、乡村街道图书角经费极其有限，无力采购动辄几千上万的云服务器与商业软件；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【高性价比普惠方案】：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全栈常驻仅 180MB，意味着最便宜的 1G 内存轻量服务器即可流畅跑完全套业务，年租金仅需一百多元；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【直接商用落地】：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开箱即用，为基层图书室提供了零门槛数字化改造可能。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6" name="roundRect 16"/>
          <p:cNvSpPr/>
          <p:nvPr/>
        </p:nvSpPr>
        <p:spPr>
          <a:xfrm>
            <a:off x="8100000" y="1368000"/>
            <a:ext cx="3528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7" name="TextBox 17"/>
          <p:cNvSpPr txBox="1"/>
          <p:nvPr/>
        </p:nvSpPr>
        <p:spPr>
          <a:xfrm>
            <a:off x="8280000" y="1548000"/>
            <a:ext cx="3168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长期可演进 ]  3. 可持续商用迭代蓝图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8280000" y="2123265"/>
            <a:ext cx="3168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【阶段一 (当前已交付)】：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前后端解耦、行级原子借还锁、自研原生 SVG 走势大屏、Docker 一键交付；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【阶段二 (商业硬件集成规划)】：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在现有接口层扩展标准 SIP2 协议，集成条码扫描枪与 RFID 射频读卡机硬件，支持校园一卡通直接刷卡借还；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【阶段三 (多租户云平台演进)】：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演进为云原生多租户架构，支持多个校区分馆间的一网通借通还与图书智能调拨调度。</a:t>
            </a:r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学习方法分享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学习方法论分享与全栈工程问题排查思路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从现象追溯底层根因、坚持场景与架构精准匹配、测试驱动开发以及拥抱现代 AI 研发新范式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522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68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方法论 ]  全栈工程化解决问题核心思路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468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1. 追溯底层根因，拒绝无脑试错：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在排查构建死锁时，没有停留在“重新构建”或“加配置”，而是通过 docker 资源监控、strace 与 musl 源码分析，定位到底层互斥锁死锁，并果断决策自研纯原生 SVG 图表。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2. 架构取舍与精准场景权衡：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深刻理解“没有最好的架构，只有最适合的架构”。在中小微图书借阅高频读、低频写的场景下，选用开启 WAL 模式的 SQLite 3，兼顾并发安全性与极低内存开销。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3. 防御性编程与自动化测试保障：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 编写独立的 Pytest 内存测试套件，用例全面覆盖正常借还闭环、零库存防超卖、未还图书下架拦截等极端边界条件，用自动化断言捍卫代码质量。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6048000" y="1368000"/>
            <a:ext cx="560376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6300000" y="1548000"/>
            <a:ext cx="504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工具与资源 ]  善用现代技术工具与 AI 赋能实战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00000" y="1908000"/>
            <a:ext cx="504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【官方权威文档精读】：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精读 FastAPI 异步架构文档，掌握 Depends 依赖注入与安全性机制；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精读 Vue 3 官方 RFC 与 Vite 编译优化策略，熟练运用组合式 API；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钻研 Docker 官方最佳实践，采用多阶段构建与 Nginx 反代模式。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【现代 AI-Native 研发范式落地】：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深度将现代 AI 工具作为全栈结对编程专家，辅助需求边界推演；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利用 AI 快速编写高质量的 Pytest 单元测试用例，覆盖更多异常边界；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借助 AI 进行代码静态审查与性能瓶颈诊断，将单人全栈工程交付效能提升数倍。</a:t>
            </a:r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实习收获 &amp; 感受分享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实训收获、工程软实力蜕变与职业规划启发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从单点编码到全局全栈架构的思维跃迁，培养独当一面的工程闭环能力与严谨职业素养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522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468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实训收获 ]  专业技能</a:t>
            </a:r>
            <a:r>
              <a:rPr lang="zh-CN" altLang="en-US" b="1">
                <a:solidFill>
                  <a:srgbClr val="38BDF8"/>
                </a:solidFill>
              </a:rPr>
              <a:t>提升</a:t>
            </a:r>
            <a:endParaRPr lang="zh-CN" altLang="en-US"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2338530"/>
            <a:ext cx="468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【专业硬技能</a:t>
            </a:r>
            <a:r>
              <a:rPr lang="zh-CN" altLang="en-US" sz="1400">
                <a:solidFill>
                  <a:srgbClr val="E2E8F0"/>
                </a:solidFill>
              </a:rPr>
              <a:t>提升</a:t>
            </a:r>
            <a:r>
              <a:rPr lang="en-US" sz="1400">
                <a:solidFill>
                  <a:srgbClr val="E2E8F0"/>
                </a:solidFill>
              </a:rPr>
              <a:t>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打通了现代化全栈工程全链路：FastAPI 异步架构、Pydantic v2 强类型体系、Vue 3 组件化响应式开发、Docker 容器编排与云服务器运维；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掌握了生产级数据强一致性控制：显式事务、行级排他条件锁与防超卖；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具备了深度的系统级性能排查与自研 SVG 算法组件开发能力。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6048000" y="1368000"/>
            <a:ext cx="560376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4" name="TextBox 14"/>
          <p:cNvSpPr txBox="1"/>
          <p:nvPr/>
        </p:nvSpPr>
        <p:spPr>
          <a:xfrm>
            <a:off x="6300000" y="1548000"/>
            <a:ext cx="504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心得与展望 ] 心得体会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00000" y="2195020"/>
            <a:ext cx="504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 好的软件设计永远是“场景、预算、性能”的艺术平衡；一人全栈开发不仅检验了技术广度，更磨练了直面复杂工程 Bug 的韧性与自驱力。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endParaRPr lang="en-US" sz="140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0B1120"/>
          </a:solidFill>
        </p:spPr>
      </p:sp>
      <p:sp>
        <p:nvSpPr>
          <p:cNvPr id="3" name="TextBox 3"/>
          <p:cNvSpPr txBox="1"/>
          <p:nvPr/>
        </p:nvSpPr>
        <p:spPr>
          <a:xfrm>
            <a:off x="540000" y="288000"/>
            <a:ext cx="648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在线实机体验 · 公网访问凭据与多端扫码 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0000" y="540000"/>
            <a:ext cx="10800000" cy="396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F8FAFC"/>
                </a:solidFill>
              </a:rPr>
              <a:t>系统公网在线体验入口、预置测试账户与扫码直达</a:t>
            </a:r>
            <a:endParaRPr b="1">
              <a:solidFill>
                <a:srgbClr val="F8FAFC"/>
              </a:solidFill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0000" y="918000"/>
            <a:ext cx="10800000" cy="252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94A3B8"/>
                </a:solidFill>
              </a:rPr>
              <a:t>已在阿里云服务器全天候在线运行，支持电脑浏览器访问与手机微信直接扫码</a:t>
            </a:r>
            <a:endParaRPr>
              <a:solidFill>
                <a:srgbClr val="94A3B8"/>
              </a:solidFill>
            </a:endParaRPr>
          </a:p>
        </p:txBody>
      </p:sp>
      <p:sp>
        <p:nvSpPr>
          <p:cNvPr id="6" name="rect 6"/>
          <p:cNvSpPr/>
          <p:nvPr/>
        </p:nvSpPr>
        <p:spPr>
          <a:xfrm>
            <a:off x="540000" y="1206000"/>
            <a:ext cx="11111760" cy="180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7" name="rect 7"/>
          <p:cNvSpPr/>
          <p:nvPr/>
        </p:nvSpPr>
        <p:spPr>
          <a:xfrm>
            <a:off x="540000" y="6408000"/>
            <a:ext cx="11111760" cy="1440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0" name="roundRect 10"/>
          <p:cNvSpPr/>
          <p:nvPr/>
        </p:nvSpPr>
        <p:spPr>
          <a:xfrm>
            <a:off x="540000" y="1368000"/>
            <a:ext cx="6660000" cy="4860000"/>
          </a:xfrm>
          <a:prstGeom prst="roundRect">
            <a:avLst/>
          </a:prstGeom>
          <a:solidFill>
            <a:srgbClr val="1E293B"/>
          </a:solidFill>
        </p:spPr>
      </p:sp>
      <p:sp>
        <p:nvSpPr>
          <p:cNvPr id="11" name="TextBox 11"/>
          <p:cNvSpPr txBox="1"/>
          <p:nvPr/>
        </p:nvSpPr>
        <p:spPr>
          <a:xfrm>
            <a:off x="792000" y="1548000"/>
            <a:ext cx="612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随时可测 ]  公网在线运行凭据与预置测试账号矩阵</a:t>
            </a:r>
            <a:endParaRPr b="1">
              <a:solidFill>
                <a:srgbClr val="38BDF8"/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92000" y="1908000"/>
            <a:ext cx="6120000" cy="414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>
                <a:solidFill>
                  <a:srgbClr val="E2E8F0"/>
                </a:solidFill>
              </a:rPr>
              <a:t>【系统公网统一访问 URL】：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http://39.96.0.20/ （对外开放标准 80 端口，全网稳定直达）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【Swagger 交互式 API 调试文档】：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http://39.96.0.20/docs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【评委预置体验账户矩阵（登录页底部支持一键自动填入）】：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系统总管理员 (admin / admin123)：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最高全局权限，可查看数据分析大屏、新书采编、全馆借还流转与用户管理；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图书管理员 (librarian / lib123)：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图书采编入库、架位号编辑与柜台还书代办核销；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• 普通读者账号 (reader1 / reader123)：</a:t>
            </a:r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  图书多维智能检索、在线一键借阅、在借中心跟踪、顺延续借 30 天与自主还书；</a:t>
            </a:r>
            <a:endParaRPr sz="1400">
              <a:solidFill>
                <a:srgbClr val="E2E8F0"/>
              </a:solidFill>
            </a:endParaRPr>
          </a:p>
          <a:p>
            <a:endParaRPr sz="1400">
              <a:solidFill>
                <a:srgbClr val="E2E8F0"/>
              </a:solidFill>
            </a:endParaRPr>
          </a:p>
          <a:p>
            <a:r>
              <a:rPr lang="en-US" sz="1400">
                <a:solidFill>
                  <a:srgbClr val="E2E8F0"/>
                </a:solidFill>
              </a:rPr>
              <a:t>【自主注册】：支持在界面点击“立即注册”创建全新读者账号进行借还测试。</a:t>
            </a:r>
            <a:endParaRPr lang="en-US" sz="1400">
              <a:solidFill>
                <a:srgbClr val="E2E8F0"/>
              </a:solidFill>
            </a:endParaRPr>
          </a:p>
        </p:txBody>
      </p:sp>
      <p:sp>
        <p:nvSpPr>
          <p:cNvPr id="13" name="roundRect 13"/>
          <p:cNvSpPr/>
          <p:nvPr/>
        </p:nvSpPr>
        <p:spPr>
          <a:xfrm>
            <a:off x="7488000" y="1368000"/>
            <a:ext cx="4163760" cy="4860000"/>
          </a:xfrm>
          <a:prstGeom prst="roundRect">
            <a:avLst/>
          </a:prstGeom>
          <a:solidFill>
            <a:srgbClr val="131D33"/>
          </a:solidFill>
        </p:spPr>
      </p:sp>
      <p:sp>
        <p:nvSpPr>
          <p:cNvPr id="14" name="TextBox 14"/>
          <p:cNvSpPr txBox="1"/>
          <p:nvPr/>
        </p:nvSpPr>
        <p:spPr>
          <a:xfrm>
            <a:off x="7740000" y="1548000"/>
            <a:ext cx="3600000" cy="288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b="1">
                <a:solidFill>
                  <a:srgbClr val="38BDF8"/>
                </a:solidFill>
              </a:rPr>
              <a:t>[ 移动端扫码 ]  手机端扫码一键体验</a:t>
            </a:r>
            <a:endParaRPr b="1">
              <a:solidFill>
                <a:srgbClr val="38BDF8"/>
              </a:solidFill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6000" y="1980000"/>
            <a:ext cx="2880000" cy="28800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7740000" y="5112000"/>
            <a:ext cx="3600000" cy="9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>
                <a:solidFill>
                  <a:srgbClr val="38BDF8"/>
                </a:solidFill>
              </a:rPr>
              <a:t>微信 / 手机浏览器扫码直达</a:t>
            </a:r>
            <a:endParaRPr>
              <a:solidFill>
                <a:srgbClr val="38BDF8"/>
              </a:solidFill>
            </a:endParaRPr>
          </a:p>
          <a:p>
            <a:r>
              <a:rPr lang="en-US">
                <a:solidFill>
                  <a:srgbClr val="38BDF8"/>
                </a:solidFill>
              </a:rPr>
              <a:t>http://39.96.0.20/</a:t>
            </a:r>
            <a:endParaRPr>
              <a:solidFill>
                <a:srgbClr val="38BDF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Defaul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7252</Words>
  <Application>WPS 演示</Application>
  <PresentationFormat/>
  <Paragraphs>382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8" baseType="lpstr">
      <vt:lpstr>Arial</vt:lpstr>
      <vt:lpstr>宋体</vt:lpstr>
      <vt:lpstr>Wingdings</vt:lpstr>
      <vt:lpstr>Arial</vt:lpstr>
      <vt:lpstr>Calibri</vt:lpstr>
      <vt:lpstr>Helvetica Neue</vt:lpstr>
      <vt:lpstr>宋体</vt:lpstr>
      <vt:lpstr>汉仪书宋二KW</vt:lpstr>
      <vt:lpstr>等线</vt:lpstr>
      <vt:lpstr>汉仪中等线KW</vt:lpstr>
      <vt:lpstr>微软雅黑</vt:lpstr>
      <vt:lpstr>汉仪旗黑</vt:lpstr>
      <vt:lpstr>Arial Unicode MS</vt:lpstr>
      <vt:lpstr>Default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@office-kit/pptx</dc:creator>
  <cp:lastModifiedBy>烟花冷</cp:lastModifiedBy>
  <cp:revision>2</cp:revision>
  <dcterms:created xsi:type="dcterms:W3CDTF">2026-10-22T11:11:14Z</dcterms:created>
  <dcterms:modified xsi:type="dcterms:W3CDTF">2026-10-22T11:11:14Z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420C91AB29BCE6FC13EFD96A11EABCFC_42</vt:lpwstr>
  </property>
  <property fmtid="{D5CDD505-2E9C-101B-9397-08002B2CF9AE}" pid="3" name="KSOProductBuildVer">
    <vt:lpwstr>2052-7.5.1.8994</vt:lpwstr>
  </property>
</Properties>
</file>